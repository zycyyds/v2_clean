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0b2dead03c473c" /><Relationship Type="http://schemas.openxmlformats.org/officeDocument/2006/relationships/extended-properties" Target="/docProps/app.xml" Id="R643331b85aef4b84" /><Relationship Type="http://schemas.openxmlformats.org/officeDocument/2006/relationships/officeDocument" Target="/ppt/presentation.xml" Id="Rbe750ca66d214a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b367400f66401f"/>
  </p:sldMasterIdLst>
  <p:notesMasterIdLst>
    <p:notesMasterId xmlns:r="http://schemas.openxmlformats.org/officeDocument/2006/relationships" r:id="R2c1f14f961324d9d"/>
  </p:notesMasterIdLst>
  <p:sldIdLst>
    <p:sldId xmlns:r="http://schemas.openxmlformats.org/officeDocument/2006/relationships" id="256" r:id="R21124f29413f4fa2"/>
    <p:sldId xmlns:r="http://schemas.openxmlformats.org/officeDocument/2006/relationships" id="257" r:id="R626c718ec9574ab2"/>
    <p:sldId xmlns:r="http://schemas.openxmlformats.org/officeDocument/2006/relationships" id="258" r:id="R6612458b322845a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6e04b048a64af8" /><Relationship Type="http://schemas.openxmlformats.org/officeDocument/2006/relationships/slideMaster" Target="/ppt/slideMasters/slideMaster1.xml" Id="Rebb367400f66401f" /><Relationship Type="http://schemas.openxmlformats.org/officeDocument/2006/relationships/notesMaster" Target="/ppt/notesMasters/notesMaster1.xml" Id="R2c1f14f961324d9d" /><Relationship Type="http://schemas.openxmlformats.org/officeDocument/2006/relationships/presProps" Target="/ppt/presProps.xml" Id="R76b083af75f049e4" /><Relationship Type="http://schemas.openxmlformats.org/officeDocument/2006/relationships/tableStyles" Target="/ppt/tableStyles.xml" Id="R96a7ee7bee104b1b" /><Relationship Type="http://schemas.openxmlformats.org/officeDocument/2006/relationships/slide" Target="/ppt/slides/slide1.xml" Id="R21124f29413f4fa2" /><Relationship Type="http://schemas.openxmlformats.org/officeDocument/2006/relationships/slide" Target="/ppt/slides/slide2.xml" Id="R626c718ec9574ab2" /><Relationship Type="http://schemas.openxmlformats.org/officeDocument/2006/relationships/slide" Target="/ppt/slides/slide3.xml" Id="R6612458b322845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68d0d35f7f41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2aab3fe2164ec5" /><Relationship Type="http://schemas.openxmlformats.org/officeDocument/2006/relationships/notesMaster" Target="/ppt/notesMasters/notesMaster1.xml" Id="Rfb51bf93b7a945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9d67125cc94571" /><Relationship Type="http://schemas.openxmlformats.org/officeDocument/2006/relationships/notesMaster" Target="/ppt/notesMasters/notesMaster1.xml" Id="R27163628e59349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617e0b4f754f55" /><Relationship Type="http://schemas.openxmlformats.org/officeDocument/2006/relationships/notesMaster" Target="/ppt/notesMasters/notesMaster1.xml" Id="Rfb394404cc7446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a5d156f3b54a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e83485ce404b9f" /><Relationship Type="http://schemas.openxmlformats.org/officeDocument/2006/relationships/slideLayout" Target="/ppt/slideLayouts/slideLayout1.xml" Id="R969ae5e68f1c46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9ae5e68f1c46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12935854345bd" /><Relationship Type="http://schemas.openxmlformats.org/officeDocument/2006/relationships/notesSlide" Target="/ppt/notesSlides/notesSlide1.xml" Id="Rb7f03d64297144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09371b2113457f" /><Relationship Type="http://schemas.openxmlformats.org/officeDocument/2006/relationships/notesSlide" Target="/ppt/notesSlides/notesSlide2.xml" Id="Raf2276bec5a846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857186a611494a" /><Relationship Type="http://schemas.openxmlformats.org/officeDocument/2006/relationships/notesSlide" Target="/ppt/notesSlides/notesSlide3.xml" Id="R02a2b5e84baa484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-title">
            <a:extLst xmlns:a="http://schemas.openxmlformats.org/drawingml/2006/main">
              <a:ext uri="{FF2B5EF4-FFF2-40B4-BE49-F238E27FC236}">
                <a16:creationId xmlns:a16="http://schemas.microsoft.com/office/drawing/2014/main" id="{2027A546-9830-4C8B-82E8-50C66844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新评估让每个文件都被看见</a:t>
            </a:r>
          </a:p>
        </p:txBody>
      </p:sp>
      <p:sp>
        <p:nvSpPr>
          <p:cNvPr id="2" name="slide-1-subtitle">
            <a:extLst xmlns:a="http://schemas.openxmlformats.org/drawingml/2006/main">
              <a:ext uri="{FF2B5EF4-FFF2-40B4-BE49-F238E27FC236}">
                <a16:creationId xmlns:a16="http://schemas.microsoft.com/office/drawing/2014/main" id="{92A2187A-649B-4F77-AF7C-59EDDF24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6677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旧评估适合观察全局覆盖；新评估更适合判断完整结果包是否真正可用。</a:t>
            </a:r>
          </a:p>
        </p:txBody>
      </p:sp>
      <p:sp>
        <p:nvSpPr>
          <p:cNvPr id="3" name="slide-1-page">
            <a:extLst xmlns:a="http://schemas.openxmlformats.org/drawingml/2006/main">
              <a:ext uri="{FF2B5EF4-FFF2-40B4-BE49-F238E27FC236}">
                <a16:creationId xmlns:a16="http://schemas.microsoft.com/office/drawing/2014/main" id="{A40FCABA-4AFC-442F-9D9C-6D70FE41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7147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4" name="legacy-panel">
            <a:extLst xmlns:a="http://schemas.openxmlformats.org/drawingml/2006/main">
              <a:ext uri="{FF2B5EF4-FFF2-40B4-BE49-F238E27FC236}">
                <a16:creationId xmlns:a16="http://schemas.microsoft.com/office/drawing/2014/main" id="{9C15CBB7-6951-43CA-A58A-A1EE1B7A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54673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5" name="balanced-panel">
            <a:extLst xmlns:a="http://schemas.openxmlformats.org/drawingml/2006/main">
              <a:ext uri="{FF2B5EF4-FFF2-40B4-BE49-F238E27FC236}">
                <a16:creationId xmlns:a16="http://schemas.microsoft.com/office/drawing/2014/main" id="{5363E9F8-CFD4-4033-9063-5ED408EF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09700"/>
            <a:ext cx="54673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6" name="legacy-top-rule">
            <a:extLst xmlns:a="http://schemas.openxmlformats.org/drawingml/2006/main">
              <a:ext uri="{FF2B5EF4-FFF2-40B4-BE49-F238E27FC236}">
                <a16:creationId xmlns:a16="http://schemas.microsoft.com/office/drawing/2014/main" id="{19F41284-091B-46DA-99DA-EED04768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54673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4"/>
          </a:solidFill>
          <a:ln xmlns:a="http://schemas.openxmlformats.org/drawingml/2006/main" w="0">
            <a:solidFill>
              <a:srgbClr val="C9CDD4"/>
            </a:solidFill>
            <a:prstDash val="solid"/>
          </a:ln>
        </p:spPr>
      </p:sp>
      <p:sp>
        <p:nvSpPr>
          <p:cNvPr id="7" name="balanced-top-rule">
            <a:extLst xmlns:a="http://schemas.openxmlformats.org/drawingml/2006/main">
              <a:ext uri="{FF2B5EF4-FFF2-40B4-BE49-F238E27FC236}">
                <a16:creationId xmlns:a16="http://schemas.microsoft.com/office/drawing/2014/main" id="{6A4AF7C8-4731-4A74-9DF6-E812FD1B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09700"/>
            <a:ext cx="54673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legacy-heading">
            <a:extLst xmlns:a="http://schemas.openxmlformats.org/drawingml/2006/main">
              <a:ext uri="{FF2B5EF4-FFF2-40B4-BE49-F238E27FC236}">
                <a16:creationId xmlns:a16="http://schemas.microsoft.com/office/drawing/2014/main" id="{EB16AD5B-EED5-48E4-B319-AAEB9771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旧评估｜全局微平均</a:t>
            </a:r>
          </a:p>
        </p:txBody>
      </p:sp>
      <p:sp>
        <p:nvSpPr>
          <p:cNvPr id="9" name="legacy-score">
            <a:extLst xmlns:a="http://schemas.openxmlformats.org/drawingml/2006/main">
              <a:ext uri="{FF2B5EF4-FFF2-40B4-BE49-F238E27FC236}">
                <a16:creationId xmlns:a16="http://schemas.microsoft.com/office/drawing/2014/main" id="{FF1D2420-D37F-43CE-9191-C0340E0E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7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0.9789</a:t>
            </a:r>
          </a:p>
        </p:txBody>
      </p:sp>
      <p:sp>
        <p:nvSpPr>
          <p:cNvPr id="10" name="legacy-score-label">
            <a:extLst xmlns:a="http://schemas.openxmlformats.org/drawingml/2006/main">
              <a:ext uri="{FF2B5EF4-FFF2-40B4-BE49-F238E27FC236}">
                <a16:creationId xmlns:a16="http://schemas.microsoft.com/office/drawing/2014/main" id="{AC4BAFB3-4EC0-4B2A-96E1-B27FA93D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266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Loop 6 · 5000 test</a:t>
            </a:r>
          </a:p>
        </p:txBody>
      </p:sp>
      <p:sp>
        <p:nvSpPr>
          <p:cNvPr id="11" name="legacy-copy">
            <a:extLst xmlns:a="http://schemas.openxmlformats.org/drawingml/2006/main">
              <a:ext uri="{FF2B5EF4-FFF2-40B4-BE49-F238E27FC236}">
                <a16:creationId xmlns:a16="http://schemas.microsoft.com/office/drawing/2014/main" id="{D53780A5-C57C-443B-A7FD-E945D4A1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69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计数方式</a:t>
            </a:r>
          </a:p>
          <a:p xmlns:a="http://schemas.openxmlformats.org/drawingml/2006/main">
            <a:pPr algn="l">
              <a:def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把所有文件的行、列和单元格汇总后计算。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优势</a:t>
            </a:r>
          </a:p>
          <a:p xmlns:a="http://schemas.openxmlformats.org/drawingml/2006/main">
            <a:pPr algn="l">
              <a:def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快速反映整体覆盖率和大规模数据重建质量。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局限</a:t>
            </a:r>
          </a:p>
          <a:p xmlns:a="http://schemas.openxmlformats.org/drawingml/2006/main">
            <a:pPr algn="l">
              <a:def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chart 等超大表会主导总分，小文件错误容易被稀释。</a:t>
            </a:r>
          </a:p>
        </p:txBody>
      </p:sp>
      <p:sp>
        <p:nvSpPr>
          <p:cNvPr id="12" name="balanced-heading">
            <a:extLst xmlns:a="http://schemas.openxmlformats.org/drawingml/2006/main">
              <a:ext uri="{FF2B5EF4-FFF2-40B4-BE49-F238E27FC236}">
                <a16:creationId xmlns:a16="http://schemas.microsoft.com/office/drawing/2014/main" id="{1C077C8C-0BEE-42E4-A237-A31FEFC7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6383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新评估｜分层等权</a:t>
            </a:r>
          </a:p>
        </p:txBody>
      </p:sp>
      <p:sp>
        <p:nvSpPr>
          <p:cNvPr id="13" name="balanced-score">
            <a:extLst xmlns:a="http://schemas.openxmlformats.org/drawingml/2006/main">
              <a:ext uri="{FF2B5EF4-FFF2-40B4-BE49-F238E27FC236}">
                <a16:creationId xmlns:a16="http://schemas.microsoft.com/office/drawing/2014/main" id="{2FEEEBE7-476E-4AF8-BC1F-36ED6B1A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38350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7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0.9069</a:t>
            </a:r>
          </a:p>
        </p:txBody>
      </p:sp>
      <p:sp>
        <p:nvSpPr>
          <p:cNvPr id="14" name="balanced-score-label">
            <a:extLst xmlns:a="http://schemas.openxmlformats.org/drawingml/2006/main">
              <a:ext uri="{FF2B5EF4-FFF2-40B4-BE49-F238E27FC236}">
                <a16:creationId xmlns:a16="http://schemas.microsoft.com/office/drawing/2014/main" id="{6CE69D12-DB09-4B53-B6CB-99A0CA1E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669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同一结果包</a:t>
            </a:r>
          </a:p>
        </p:txBody>
      </p:sp>
      <p:sp>
        <p:nvSpPr>
          <p:cNvPr id="15" name="balanced-copy">
            <a:extLst xmlns:a="http://schemas.openxmlformats.org/drawingml/2006/main">
              <a:ext uri="{FF2B5EF4-FFF2-40B4-BE49-F238E27FC236}">
                <a16:creationId xmlns:a16="http://schemas.microsoft.com/office/drawing/2014/main" id="{66A68790-A80D-4AC9-81F9-727FF031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38450"/>
            <a:ext cx="47625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06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总体分数</a:t>
            </a:r>
          </a:p>
          <a:p xmlns:a="http://schemas.openxmlformats.org/drawingml/2006/main">
            <a:pPr algn="l">
              <a:def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20% Core + 60% Features + 20% Summary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单文件分数</a:t>
            </a:r>
          </a:p>
          <a:p xmlns:a="http://schemas.openxmlformats.org/drawingml/2006/main">
            <a:pPr algn="l">
              <a:def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10% Schema + 20% Key F1</a:t>
            </a:r>
          </a:p>
          <a:p xmlns:a="http://schemas.openxmlformats.org/drawingml/2006/main">
            <a:pPr algn="l">
              <a:def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+ 40% 逐行单元格 F1 + 30% 完整行 F1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意义</a:t>
            </a:r>
          </a:p>
          <a:p xmlns:a="http://schemas.openxmlformats.org/drawingml/2006/main">
            <a:pPr algn="l">
              <a:def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17 个文件独立计分，缺行、多行和局部字段错误都可定位。</a:t>
            </a:r>
          </a:p>
        </p:txBody>
      </p:sp>
      <p:sp>
        <p:nvSpPr>
          <p:cNvPr id="16" name="slide1-takeaway">
            <a:extLst xmlns:a="http://schemas.openxmlformats.org/drawingml/2006/main">
              <a:ext uri="{FF2B5EF4-FFF2-40B4-BE49-F238E27FC236}">
                <a16:creationId xmlns:a16="http://schemas.microsoft.com/office/drawing/2014/main" id="{8805D64F-6A83-4CC1-A3E3-4571FFFB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0">
            <a:solidFill>
              <a:srgbClr val="DCEBFF"/>
            </a:solidFill>
            <a:prstDash val="solid"/>
          </a:ln>
        </p:spPr>
      </p:sp>
      <p:sp>
        <p:nvSpPr>
          <p:cNvPr id="17" name="slide1-takeaway-text">
            <a:extLst xmlns:a="http://schemas.openxmlformats.org/drawingml/2006/main">
              <a:ext uri="{FF2B5EF4-FFF2-40B4-BE49-F238E27FC236}">
                <a16:creationId xmlns:a16="http://schemas.microsoft.com/office/drawing/2014/main" id="{19BD7AB2-5FA2-4968-AC11-D9F790AF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结论：旧分回答“总体覆盖得怎样”，新分回答“每个业务文件是否都达到可交付质量”。</a:t>
            </a:r>
          </a:p>
        </p:txBody>
      </p:sp>
      <p:sp>
        <p:nvSpPr>
          <p:cNvPr id="18" name="slide1-source">
            <a:extLst xmlns:a="http://schemas.openxmlformats.org/drawingml/2006/main">
              <a:ext uri="{FF2B5EF4-FFF2-40B4-BE49-F238E27FC236}">
                <a16:creationId xmlns:a16="http://schemas.microsoft.com/office/drawing/2014/main" id="{955CE7E0-6316-425F-B9BA-65967E15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评估口径：Balanced Reference Evaluation Design（2026-07-12）</a:t>
            </a:r>
          </a:p>
        </p:txBody>
      </p:sp>
    </p:spTree>
    <p:extLst>
      <p:ext uri="{BB962C8B-B14F-4D97-AF65-F5344CB8AC3E}">
        <p14:creationId xmlns:p14="http://schemas.microsoft.com/office/powerpoint/2010/main" val="4816780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57BF5A42-7B3F-45FA-B96D-E4380B9E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最新链路把新分从 0.7597 推到 0.9069</a:t>
            </a:r>
          </a:p>
        </p:txBody>
      </p:sp>
      <p:sp>
        <p:nvSpPr>
          <p:cNvPr id="2" name="slide-2-subtitle">
            <a:extLst xmlns:a="http://schemas.openxmlformats.org/drawingml/2006/main">
              <a:ext uri="{FF2B5EF4-FFF2-40B4-BE49-F238E27FC236}">
                <a16:creationId xmlns:a16="http://schemas.microsoft.com/office/drawing/2014/main" id="{BD4F0892-54B8-4B65-AB6F-C4022BC5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6677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最大增益来自 chart、med 和 10 个 summary；labels 与 diag 的下降主要受 test 金标准契约差异影响。</a:t>
            </a:r>
          </a:p>
        </p:txBody>
      </p:sp>
      <p:sp>
        <p:nvSpPr>
          <p:cNvPr id="3" name="slide-2-page">
            <a:extLst xmlns:a="http://schemas.openxmlformats.org/drawingml/2006/main">
              <a:ext uri="{FF2B5EF4-FFF2-40B4-BE49-F238E27FC236}">
                <a16:creationId xmlns:a16="http://schemas.microsoft.com/office/drawing/2014/main" id="{B91E60A2-FDF6-4739-BA84-763DB812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7147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baseline-panel">
            <a:extLst xmlns:a="http://schemas.openxmlformats.org/drawingml/2006/main">
              <a:ext uri="{FF2B5EF4-FFF2-40B4-BE49-F238E27FC236}">
                <a16:creationId xmlns:a16="http://schemas.microsoft.com/office/drawing/2014/main" id="{1E4FCF73-8FAB-495C-9B44-2FD6F107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3238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5" name="baseline-accent">
            <a:extLst xmlns:a="http://schemas.openxmlformats.org/drawingml/2006/main">
              <a:ext uri="{FF2B5EF4-FFF2-40B4-BE49-F238E27FC236}">
                <a16:creationId xmlns:a16="http://schemas.microsoft.com/office/drawing/2014/main" id="{B2A518D8-0B05-44C4-9FB7-4A0692D8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397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4"/>
          </a:solidFill>
          <a:ln xmlns:a="http://schemas.openxmlformats.org/drawingml/2006/main" w="0">
            <a:solidFill>
              <a:srgbClr val="C9CDD4"/>
            </a:solidFill>
            <a:prstDash val="solid"/>
          </a:ln>
        </p:spPr>
      </p:sp>
      <p:sp>
        <p:nvSpPr>
          <p:cNvPr id="6" name="baseline-label">
            <a:extLst xmlns:a="http://schemas.openxmlformats.org/drawingml/2006/main">
              <a:ext uri="{FF2B5EF4-FFF2-40B4-BE49-F238E27FC236}">
                <a16:creationId xmlns:a16="http://schemas.microsoft.com/office/drawing/2014/main" id="{B3625D76-86BA-4D01-8748-6AB84432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291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0.9252 历史运行｜4000 validation</a:t>
            </a:r>
          </a:p>
        </p:txBody>
      </p:sp>
      <p:sp>
        <p:nvSpPr>
          <p:cNvPr id="7" name="baseline-value">
            <a:extLst xmlns:a="http://schemas.openxmlformats.org/drawingml/2006/main">
              <a:ext uri="{FF2B5EF4-FFF2-40B4-BE49-F238E27FC236}">
                <a16:creationId xmlns:a16="http://schemas.microsoft.com/office/drawing/2014/main" id="{C3C6718A-E44A-4495-BEDA-36E12DA8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0.9252  →  0.7597</a:t>
            </a:r>
          </a:p>
        </p:txBody>
      </p:sp>
      <p:sp>
        <p:nvSpPr>
          <p:cNvPr id="8" name="latest-panel">
            <a:extLst xmlns:a="http://schemas.openxmlformats.org/drawingml/2006/main">
              <a:ext uri="{FF2B5EF4-FFF2-40B4-BE49-F238E27FC236}">
                <a16:creationId xmlns:a16="http://schemas.microsoft.com/office/drawing/2014/main" id="{09451B2F-A622-40B4-BCE2-C8116708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323975"/>
            <a:ext cx="4000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9" name="latest-accent">
            <a:extLst xmlns:a="http://schemas.openxmlformats.org/drawingml/2006/main">
              <a:ext uri="{FF2B5EF4-FFF2-40B4-BE49-F238E27FC236}">
                <a16:creationId xmlns:a16="http://schemas.microsoft.com/office/drawing/2014/main" id="{8B11E581-FF3B-4466-AD5E-98E4D081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32397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latest-label">
            <a:extLst xmlns:a="http://schemas.openxmlformats.org/drawingml/2006/main">
              <a:ext uri="{FF2B5EF4-FFF2-40B4-BE49-F238E27FC236}">
                <a16:creationId xmlns:a16="http://schemas.microsoft.com/office/drawing/2014/main" id="{6EA8D958-28E5-4E79-8C60-82884B96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44780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最新 Loop 6｜5000 test</a:t>
            </a:r>
          </a:p>
        </p:txBody>
      </p:sp>
      <p:sp>
        <p:nvSpPr>
          <p:cNvPr id="11" name="latest-value">
            <a:extLst xmlns:a="http://schemas.openxmlformats.org/drawingml/2006/main">
              <a:ext uri="{FF2B5EF4-FFF2-40B4-BE49-F238E27FC236}">
                <a16:creationId xmlns:a16="http://schemas.microsoft.com/office/drawing/2014/main" id="{29969A8D-833D-4D9B-9124-2CDDB1BD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85925"/>
            <a:ext cx="3676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0.9789  →  0.9069</a:t>
            </a:r>
          </a:p>
        </p:txBody>
      </p:sp>
      <p:sp>
        <p:nvSpPr>
          <p:cNvPr id="12" name="delta-panel">
            <a:extLst xmlns:a="http://schemas.openxmlformats.org/drawingml/2006/main">
              <a:ext uri="{FF2B5EF4-FFF2-40B4-BE49-F238E27FC236}">
                <a16:creationId xmlns:a16="http://schemas.microsoft.com/office/drawing/2014/main" id="{F33EF8FD-3D79-4381-B815-DFEEEE0D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323975"/>
            <a:ext cx="3771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13" name="delta-accent">
            <a:extLst xmlns:a="http://schemas.openxmlformats.org/drawingml/2006/main">
              <a:ext uri="{FF2B5EF4-FFF2-40B4-BE49-F238E27FC236}">
                <a16:creationId xmlns:a16="http://schemas.microsoft.com/office/drawing/2014/main" id="{3CFB1579-040A-48AC-8C39-9BE08FCB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32397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4" name="delta-label">
            <a:extLst xmlns:a="http://schemas.openxmlformats.org/drawingml/2006/main">
              <a:ext uri="{FF2B5EF4-FFF2-40B4-BE49-F238E27FC236}">
                <a16:creationId xmlns:a16="http://schemas.microsoft.com/office/drawing/2014/main" id="{BDFA1111-D295-4D57-A667-3695FEA9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47800"/>
            <a:ext cx="3448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新评估总分变化</a:t>
            </a:r>
          </a:p>
        </p:txBody>
      </p:sp>
      <p:sp>
        <p:nvSpPr>
          <p:cNvPr id="15" name="delta-value">
            <a:extLst xmlns:a="http://schemas.openxmlformats.org/drawingml/2006/main">
              <a:ext uri="{FF2B5EF4-FFF2-40B4-BE49-F238E27FC236}">
                <a16:creationId xmlns:a16="http://schemas.microsoft.com/office/drawing/2014/main" id="{D83266C5-5026-44D6-A5F3-B071D8B3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85925"/>
            <a:ext cx="3448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+0.1472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400050" y="2390775"/>
          <a:ext xmlns:a="http://schemas.openxmlformats.org/drawingml/2006/main" cx="5448300" cy="2781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1181100"/>
                <a:gridCol w="1295400"/>
                <a:gridCol w="1066800"/>
              </a:tblGrid>
              <a:tr h="323850"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Core / Feature</a:t>
                      </a:r>
                    </a:p>
                  </a:txBody>
                  <a:tcPr marL="91440" marR="91440" marT="45720" marB="45720">
                    <a:solidFill>
                      <a:srgbClr val="111318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0.9252运行</a:t>
                      </a:r>
                    </a:p>
                  </a:txBody>
                  <a:tcPr marL="91440" marR="91440" marT="45720" marB="45720">
                    <a:solidFill>
                      <a:srgbClr val="111318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Loop 6 test</a:t>
                      </a:r>
                    </a:p>
                  </a:txBody>
                  <a:tcPr marL="91440" marR="91440" marT="45720" marB="45720">
                    <a:solidFill>
                      <a:srgbClr val="111318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Δ</a:t>
                      </a:r>
                    </a:p>
                  </a:txBody>
                  <a:tcPr marL="91440" marR="91440" marT="45720" marB="45720">
                    <a:solidFill>
                      <a:srgbClr val="111318"/>
                    </a:solidFill>
                  </a:tcPr>
                </a:tc>
              </a:tr>
              <a:tr h="314325"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cohort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0.8611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0.9911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976D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+0.1301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labels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0.8244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0.5347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C447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−0.2897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314325"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0.4548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0.9938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976D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+0.5390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diag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0.8149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0.4554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C447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−0.3595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314325"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0.7487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0.9991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976D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+0.2503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out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1.0000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0.9992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C447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−0.0008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314325"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proc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0.9895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0.9812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C447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−0.0084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新评估总分</a:t>
                      </a:r>
                    </a:p>
                  </a:txBody>
                  <a:tcPr marL="91440" marR="91440" marT="45720" marB="45720">
                    <a:solidFill>
                      <a:srgbClr val="DCEBFF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0.7597</a:t>
                      </a:r>
                    </a:p>
                  </a:txBody>
                  <a:tcPr marL="91440" marR="91440" marT="45720" marB="45720">
                    <a:solidFill>
                      <a:srgbClr val="DCEBFF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0.9069</a:t>
                      </a:r>
                    </a:p>
                  </a:txBody>
                  <a:tcPr marL="91440" marR="91440" marT="45720" marB="45720">
                    <a:solidFill>
                      <a:srgbClr val="DCEBFF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976D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+0.1472</a:t>
                      </a:r>
                    </a:p>
                  </a:txBody>
                  <a:tcPr marL="91440" marR="91440" marT="45720" marB="45720">
                    <a:solidFill>
                      <a:srgbClr val="DCEB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"/>
          <p:cNvGraphicFramePr/>
          <p:nvPr/>
        </p:nvGraphicFramePr>
        <p:xfrm>
          <a:off xmlns:a="http://schemas.openxmlformats.org/drawingml/2006/main" x="6076950" y="2390775"/>
          <a:ext xmlns:a="http://schemas.openxmlformats.org/drawingml/2006/main" cx="5715000" cy="3724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57400"/>
                <a:gridCol w="1238250"/>
                <a:gridCol w="1352550"/>
                <a:gridCol w="1066800"/>
              </a:tblGrid>
              <a:tr h="323850"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Summary 文件</a:t>
                      </a:r>
                    </a:p>
                  </a:txBody>
                  <a:tcPr marL="91440" marR="91440" marT="45720" marB="45720">
                    <a:solidFill>
                      <a:srgbClr val="111318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0.9252运行</a:t>
                      </a:r>
                    </a:p>
                  </a:txBody>
                  <a:tcPr marL="91440" marR="91440" marT="45720" marB="45720">
                    <a:solidFill>
                      <a:srgbClr val="111318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Loop 6 test</a:t>
                      </a:r>
                    </a:p>
                  </a:txBody>
                  <a:tcPr marL="91440" marR="91440" marT="45720" marB="45720">
                    <a:solidFill>
                      <a:srgbClr val="111318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Δ</a:t>
                      </a:r>
                    </a:p>
                  </a:txBody>
                  <a:tcPr marL="91440" marR="91440" marT="45720" marB="45720">
                    <a:solidFill>
                      <a:srgbClr val="111318"/>
                    </a:solidFill>
                  </a:tcPr>
                </a:tc>
              </a:tr>
              <a:tr h="314325"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chart_features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0.3964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1.0000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976D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+0.6036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chart_summary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0.1724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1.0000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976D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+0.8276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314325"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diag_features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0.6673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1.0000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976D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+0.3327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diag_summary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0.3106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1.0000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976D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+0.6894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314325"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med_features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0.7222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1.0000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976D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+0.2778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med_summary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0.3228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1.0000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976D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+0.6772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314325"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out_features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0.9806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1.0000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976D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+0.0194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out_summary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0.4261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1.0000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976D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+0.5739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314325"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proc_features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0.9885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1.0000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976D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+0.0115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proc_summary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0.4291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1.0000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76200" tIns="28575" rIns="57150" bIns="28575" anchor="ctr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976D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+0.5709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8" name="contract-note-panel">
            <a:extLst xmlns:a="http://schemas.openxmlformats.org/drawingml/2006/main">
              <a:ext uri="{FF2B5EF4-FFF2-40B4-BE49-F238E27FC236}">
                <a16:creationId xmlns:a16="http://schemas.microsoft.com/office/drawing/2014/main" id="{507FDBC8-E159-430C-865E-10F59BF2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5448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0">
            <a:solidFill>
              <a:srgbClr val="DCEBFF"/>
            </a:solidFill>
            <a:prstDash val="solid"/>
          </a:ln>
        </p:spPr>
      </p:sp>
      <p:sp>
        <p:nvSpPr>
          <p:cNvPr id="19" name="contract-note">
            <a:extLst xmlns:a="http://schemas.openxmlformats.org/drawingml/2006/main">
              <a:ext uri="{FF2B5EF4-FFF2-40B4-BE49-F238E27FC236}">
                <a16:creationId xmlns:a16="http://schemas.microsoft.com/office/drawing/2014/main" id="{FEC96222-3045-47C7-BD3F-F980EC66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77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对比注意</a:t>
            </a:r>
          </a:p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0.9252 为 4000 validation；Loop 6 为 5000 test。test 的 labels gold 仅 1592 行，diag gold 为 6 列，而当前主链路为 4 列。</a:t>
            </a:r>
          </a:p>
        </p:txBody>
      </p:sp>
      <p:sp>
        <p:nvSpPr>
          <p:cNvPr id="20" name="slide2-source">
            <a:extLst xmlns:a="http://schemas.openxmlformats.org/drawingml/2006/main">
              <a:ext uri="{FF2B5EF4-FFF2-40B4-BE49-F238E27FC236}">
                <a16:creationId xmlns:a16="http://schemas.microsoft.com/office/drawing/2014/main" id="{D4D38304-CBD2-4DA6-AA58-ED779C99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来源：candidate_publish_v1 最终第 6 轮；Loop 6 / Attempt 26 的 5000 test 双评估报告。</a:t>
            </a:r>
          </a:p>
        </p:txBody>
      </p:sp>
    </p:spTree>
    <p:extLst>
      <p:ext uri="{BB962C8B-B14F-4D97-AF65-F5344CB8AC3E}">
        <p14:creationId xmlns:p14="http://schemas.microsoft.com/office/powerpoint/2010/main" val="18778990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498D9C8A-90C4-4FF6-975A-A65017D7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Loop 6｜5000 例 test 的逐文件诊断</a:t>
            </a:r>
          </a:p>
        </p:txBody>
      </p:sp>
      <p:sp>
        <p:nvSpPr>
          <p:cNvPr id="2" name="slide-3-subtitle">
            <a:extLst xmlns:a="http://schemas.openxmlformats.org/drawingml/2006/main">
              <a:ext uri="{FF2B5EF4-FFF2-40B4-BE49-F238E27FC236}">
                <a16:creationId xmlns:a16="http://schemas.microsoft.com/office/drawing/2014/main" id="{1B57B758-FE3D-4B3B-B38C-03D036B9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6677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新评估总分 0.9069；10 个 summary 文件完全匹配，当前主要短板集中在 labels 与 diag。</a:t>
            </a:r>
          </a:p>
        </p:txBody>
      </p:sp>
      <p:sp>
        <p:nvSpPr>
          <p:cNvPr id="3" name="slide-3-page">
            <a:extLst xmlns:a="http://schemas.openxmlformats.org/drawingml/2006/main">
              <a:ext uri="{FF2B5EF4-FFF2-40B4-BE49-F238E27FC236}">
                <a16:creationId xmlns:a16="http://schemas.microsoft.com/office/drawing/2014/main" id="{7193C173-3CD6-4F0D-8976-D554BF5B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7147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00050" y="1371600"/>
          <a:ext xmlns:a="http://schemas.openxmlformats.org/drawingml/2006/main" cx="113919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2095500"/>
                <a:gridCol w="1381125"/>
                <a:gridCol w="2381250"/>
                <a:gridCol w="857250"/>
                <a:gridCol w="3152775"/>
              </a:tblGrid>
              <a:tr h="285750">
                <a:tc>
                  <a:txBody>
                    <a:bodyPr lIns="76200" tIns="19050" rIns="47625" bIns="19050" anchor="ctr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文件</a:t>
                      </a:r>
                    </a:p>
                  </a:txBody>
                  <a:tcPr marL="91440" marR="91440" marT="45720" marB="45720">
                    <a:solidFill>
                      <a:srgbClr val="111318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金标准 / 结果行数</a:t>
                      </a:r>
                    </a:p>
                  </a:txBody>
                  <a:tcPr marL="91440" marR="91440" marT="45720" marB="45720">
                    <a:solidFill>
                      <a:srgbClr val="111318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少 / 多记录</a:t>
                      </a:r>
                    </a:p>
                  </a:txBody>
                  <a:tcPr marL="91440" marR="91440" marT="45720" marB="45720">
                    <a:solidFill>
                      <a:srgbClr val="111318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匹配 / 金标准单元格</a:t>
                      </a:r>
                    </a:p>
                  </a:txBody>
                  <a:tcPr marL="91440" marR="91440" marT="45720" marB="45720">
                    <a:solidFill>
                      <a:srgbClr val="111318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文件分</a:t>
                      </a:r>
                    </a:p>
                  </a:txBody>
                  <a:tcPr marL="91440" marR="91440" marT="45720" marB="45720">
                    <a:solidFill>
                      <a:srgbClr val="111318"/>
                    </a:solidFill>
                  </a:tcPr>
                </a:tc>
                <a:tc>
                  <a:txBody>
                    <a:bodyPr lIns="76200" tIns="19050" rIns="47625" bIns="19050" anchor="ctr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主要问题</a:t>
                      </a:r>
                    </a:p>
                  </a:txBody>
                  <a:tcPr marL="91440" marR="91440" marT="45720" marB="45720">
                    <a:solidFill>
                      <a:srgbClr val="111318"/>
                    </a:solidFill>
                  </a:tcPr>
                </a:tc>
              </a:tr>
              <a:tr h="238125">
                <a:tc>
                  <a:txBody>
                    <a:bodyPr lIns="76200" tIns="19050" rIns="47625" bIns="19050" anchor="ctr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cohort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5,000 / 5,000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 / 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54,863 / 55,000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1976D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0.9911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76200" tIns="19050" rIns="47625" bIns="19050" anchor="ctr">
                      <a:norm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insurance、label 少量误差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38125">
                <a:tc>
                  <a:txBody>
                    <a:bodyPr lIns="76200" tIns="19050" rIns="47625" bIns="19050" anchor="ctr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labels</a:t>
                      </a:r>
                    </a:p>
                  </a:txBody>
                  <a:tcPr marL="91440" marR="91440" marT="45720" marB="45720">
                    <a:solidFill>
                      <a:srgbClr val="F1F2F4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1,592 / 5,000</a:t>
                      </a:r>
                    </a:p>
                  </a:txBody>
                  <a:tcPr marL="91440" marR="91440" marT="45720" marB="45720">
                    <a:solidFill>
                      <a:srgbClr val="F1F2F4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 / 3,408</a:t>
                      </a:r>
                    </a:p>
                  </a:txBody>
                  <a:tcPr marL="91440" marR="91440" marT="45720" marB="45720">
                    <a:solidFill>
                      <a:srgbClr val="F1F2F4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3,184 / 3,184</a:t>
                      </a:r>
                    </a:p>
                  </a:txBody>
                  <a:tcPr marL="91440" marR="91440" marT="45720" marB="45720">
                    <a:solidFill>
                      <a:srgbClr val="F1F2F4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C447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0.5347</a:t>
                      </a:r>
                    </a:p>
                  </a:txBody>
                  <a:tcPr marL="91440" marR="91440" marT="45720" marB="45720">
                    <a:solidFill>
                      <a:srgbClr val="F1F2F4"/>
                    </a:solidFill>
                  </a:tcPr>
                </a:tc>
                <a:tc>
                  <a:txBody>
                    <a:bodyPr lIns="76200" tIns="19050" rIns="47625" bIns="19050" anchor="ctr">
                      <a:norm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test gold 仅 1,592 行</a:t>
                      </a:r>
                    </a:p>
                  </a:txBody>
                  <a:tcPr marL="91440" marR="91440" marT="45720" marB="45720">
                    <a:solidFill>
                      <a:srgbClr val="F1F2F4"/>
                    </a:solidFill>
                  </a:tcPr>
                </a:tc>
              </a:tr>
              <a:tr h="238125">
                <a:tc>
                  <a:txBody>
                    <a:bodyPr lIns="76200" tIns="19050" rIns="47625" bIns="19050" anchor="ctr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5,613,028 / 5,614,544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37,763 / 39,279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22,301,060 / 22,452,112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1976D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0.9938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76200" tIns="19050" rIns="47625" bIns="19050" anchor="ctr">
                      <a:norm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少量缺失与额外事件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38125">
                <a:tc>
                  <a:txBody>
                    <a:bodyPr lIns="76200" tIns="19050" rIns="47625" bIns="19050" anchor="ctr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diag</a:t>
                      </a:r>
                    </a:p>
                  </a:txBody>
                  <a:tcPr marL="91440" marR="91440" marT="45720" marB="45720">
                    <a:solidFill>
                      <a:srgbClr val="F1F2F4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93,783 / 91,663</a:t>
                      </a:r>
                    </a:p>
                  </a:txBody>
                  <a:tcPr marL="91440" marR="91440" marT="45720" marB="45720">
                    <a:solidFill>
                      <a:srgbClr val="F1F2F4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2,120 / 0</a:t>
                      </a:r>
                    </a:p>
                  </a:txBody>
                  <a:tcPr marL="91440" marR="91440" marT="45720" marB="45720">
                    <a:solidFill>
                      <a:srgbClr val="F1F2F4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274,989 / 562,698</a:t>
                      </a:r>
                    </a:p>
                  </a:txBody>
                  <a:tcPr marL="91440" marR="91440" marT="45720" marB="45720">
                    <a:solidFill>
                      <a:srgbClr val="F1F2F4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C4473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0.4554</a:t>
                      </a:r>
                    </a:p>
                  </a:txBody>
                  <a:tcPr marL="91440" marR="91440" marT="45720" marB="45720">
                    <a:solidFill>
                      <a:srgbClr val="F1F2F4"/>
                    </a:solidFill>
                  </a:tcPr>
                </a:tc>
                <a:tc>
                  <a:txBody>
                    <a:bodyPr lIns="76200" tIns="19050" rIns="47625" bIns="19050" anchor="ctr">
                      <a:norm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 列 gold / 4 列结果；ICD 未匹配</a:t>
                      </a:r>
                    </a:p>
                  </a:txBody>
                  <a:tcPr marL="91440" marR="91440" marT="45720" marB="45720">
                    <a:solidFill>
                      <a:srgbClr val="F1F2F4"/>
                    </a:solidFill>
                  </a:tcPr>
                </a:tc>
              </a:tr>
              <a:tr h="238125">
                <a:tc>
                  <a:txBody>
                    <a:bodyPr lIns="76200" tIns="19050" rIns="47625" bIns="19050" anchor="ctr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315,766 / 315,766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 / 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3,472,428 / 3,473,426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1976D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0.9991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76200" tIns="19050" rIns="47625" bIns="19050" anchor="ctr">
                      <a:norm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start/stop 时间少量偏移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38125">
                <a:tc>
                  <a:txBody>
                    <a:bodyPr lIns="76200" tIns="19050" rIns="47625" bIns="19050" anchor="ctr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out</a:t>
                      </a:r>
                    </a:p>
                  </a:txBody>
                  <a:tcPr marL="91440" marR="91440" marT="45720" marB="45720">
                    <a:solidFill>
                      <a:srgbClr val="F1F2F4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281,996 / 281,996</a:t>
                      </a:r>
                    </a:p>
                  </a:txBody>
                  <a:tcPr marL="91440" marR="91440" marT="45720" marB="45720">
                    <a:solidFill>
                      <a:srgbClr val="F1F2F4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 / 0</a:t>
                      </a:r>
                    </a:p>
                  </a:txBody>
                  <a:tcPr marL="91440" marR="91440" marT="45720" marB="45720">
                    <a:solidFill>
                      <a:srgbClr val="F1F2F4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1,973,352 / 1,973,972</a:t>
                      </a:r>
                    </a:p>
                  </a:txBody>
                  <a:tcPr marL="91440" marR="91440" marT="45720" marB="45720">
                    <a:solidFill>
                      <a:srgbClr val="F1F2F4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1976D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0.9992</a:t>
                      </a:r>
                    </a:p>
                  </a:txBody>
                  <a:tcPr marL="91440" marR="91440" marT="45720" marB="45720">
                    <a:solidFill>
                      <a:srgbClr val="F1F2F4"/>
                    </a:solidFill>
                  </a:tcPr>
                </a:tc>
                <a:tc>
                  <a:txBody>
                    <a:bodyPr lIns="76200" tIns="19050" rIns="47625" bIns="19050" anchor="ctr">
                      <a:norm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event_time 少量偏移</a:t>
                      </a:r>
                    </a:p>
                  </a:txBody>
                  <a:tcPr marL="91440" marR="91440" marT="45720" marB="45720">
                    <a:solidFill>
                      <a:srgbClr val="F1F2F4"/>
                    </a:solidFill>
                  </a:tcPr>
                </a:tc>
              </a:tr>
              <a:tr h="238125">
                <a:tc>
                  <a:txBody>
                    <a:bodyPr lIns="76200" tIns="19050" rIns="47625" bIns="19050" anchor="ctr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proc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41,437 / 42,519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 / 1,082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289,207 / 290,059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0.9812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76200" tIns="19050" rIns="47625" bIns="19050" anchor="ctr">
                      <a:norm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额外记录；event_time 偏移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238125">
                <a:tc>
                  <a:txBody>
                    <a:bodyPr lIns="76200" tIns="19050" rIns="47625" bIns="19050" anchor="ctr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chart_features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471 / 471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 / 0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471 / 471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1976D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1.0000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76200" tIns="19050" rIns="47625" bIns="19050" anchor="ctr">
                      <a:norm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完全匹配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238125">
                <a:tc>
                  <a:txBody>
                    <a:bodyPr lIns="76200" tIns="19050" rIns="47625" bIns="19050" anchor="ctr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chart_summary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471 / 471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 / 0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1,884 / 1,884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1976D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1.0000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76200" tIns="19050" rIns="47625" bIns="19050" anchor="ctr">
                      <a:norm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完全匹配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238125">
                <a:tc>
                  <a:txBody>
                    <a:bodyPr lIns="76200" tIns="19050" rIns="47625" bIns="19050" anchor="ctr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diag_features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1,570 / 1,570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 / 0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1,570 / 1,570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1976D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1.0000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76200" tIns="19050" rIns="47625" bIns="19050" anchor="ctr">
                      <a:norm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完全匹配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238125">
                <a:tc>
                  <a:txBody>
                    <a:bodyPr lIns="76200" tIns="19050" rIns="47625" bIns="19050" anchor="ctr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diag_summary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1,570 / 1,570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 / 0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4,710 / 4,710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1976D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1.0000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76200" tIns="19050" rIns="47625" bIns="19050" anchor="ctr">
                      <a:norm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完全匹配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238125">
                <a:tc>
                  <a:txBody>
                    <a:bodyPr lIns="76200" tIns="19050" rIns="47625" bIns="19050" anchor="ctr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med_features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197 / 197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 / 0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197 / 197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1976D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1.0000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76200" tIns="19050" rIns="47625" bIns="19050" anchor="ctr">
                      <a:norm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完全匹配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238125">
                <a:tc>
                  <a:txBody>
                    <a:bodyPr lIns="76200" tIns="19050" rIns="47625" bIns="19050" anchor="ctr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med_summary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197 / 197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 / 0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788 / 788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1976D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1.0000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76200" tIns="19050" rIns="47625" bIns="19050" anchor="ctr">
                      <a:norm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完全匹配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238125">
                <a:tc>
                  <a:txBody>
                    <a:bodyPr lIns="76200" tIns="19050" rIns="47625" bIns="19050" anchor="ctr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out_features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71 / 71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 / 0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71 / 71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1976D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1.0000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76200" tIns="19050" rIns="47625" bIns="19050" anchor="ctr">
                      <a:norm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完全匹配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238125">
                <a:tc>
                  <a:txBody>
                    <a:bodyPr lIns="76200" tIns="19050" rIns="47625" bIns="19050" anchor="ctr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out_summary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71 / 71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 / 0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213 / 213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1976D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1.0000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76200" tIns="19050" rIns="47625" bIns="19050" anchor="ctr">
                      <a:norm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完全匹配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238125">
                <a:tc>
                  <a:txBody>
                    <a:bodyPr lIns="76200" tIns="19050" rIns="47625" bIns="19050" anchor="ctr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proc_features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159 / 159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 / 0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159 / 159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1976D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1.0000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76200" tIns="19050" rIns="47625" bIns="19050" anchor="ctr">
                      <a:norm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完全匹配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  <a:tr h="238125">
                <a:tc>
                  <a:txBody>
                    <a:bodyPr lIns="76200" tIns="19050" rIns="47625" bIns="19050" anchor="ctr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proc_summary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159 / 159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 / 0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477 / 477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38100" tIns="19050" rIns="47625" bIns="19050" anchor="ctr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1976D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1.0000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  <a:tc>
                  <a:txBody>
                    <a:bodyPr lIns="76200" tIns="19050" rIns="47625" bIns="19050" anchor="ctr">
                      <a:normAutofit/>
                    </a:bodyPr>
                    <a:lstStyle/>
                    <a:p>
                      <a:pPr algn="l"/>
                      <a:r>
                        <a:rPr sz="1200" b="0">
                          <a:solidFill>
                            <a:srgbClr val="1113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完全匹配</a:t>
                      </a:r>
                    </a:p>
                  </a:txBody>
                  <a:tcPr marL="91440" marR="91440" marT="45720" marB="45720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5" name="slide3-score-panel">
            <a:extLst xmlns:a="http://schemas.openxmlformats.org/drawingml/2006/main">
              <a:ext uri="{FF2B5EF4-FFF2-40B4-BE49-F238E27FC236}">
                <a16:creationId xmlns:a16="http://schemas.microsoft.com/office/drawing/2014/main" id="{7D3ADD65-40B1-45F2-97B3-F3A3D002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15025"/>
            <a:ext cx="1139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0">
            <a:solidFill>
              <a:srgbClr val="DCEBFF"/>
            </a:solidFill>
            <a:prstDash val="solid"/>
          </a:ln>
        </p:spPr>
      </p:sp>
      <p:sp>
        <p:nvSpPr>
          <p:cNvPr id="6" name="slide3-score">
            <a:extLst xmlns:a="http://schemas.openxmlformats.org/drawingml/2006/main">
              <a:ext uri="{FF2B5EF4-FFF2-40B4-BE49-F238E27FC236}">
                <a16:creationId xmlns:a16="http://schemas.microsoft.com/office/drawing/2014/main" id="{6C7B8A42-0101-4C83-BEEA-70C53498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318"/>
                </a:solidFill>
                <a:latin typeface="PingFang SC"/>
                <a:ea typeface="PingFang SC"/>
                <a:cs typeface="PingFang SC"/>
              </a:rPr>
              <a:t>新评估总分 0.9069   |   Core 0.8770   |   Features 0.8857   |   Summary 1.0000</a:t>
            </a:r>
          </a:p>
        </p:txBody>
      </p:sp>
      <p:sp>
        <p:nvSpPr>
          <p:cNvPr id="7" name="slide3-source">
            <a:extLst xmlns:a="http://schemas.openxmlformats.org/drawingml/2006/main">
              <a:ext uri="{FF2B5EF4-FFF2-40B4-BE49-F238E27FC236}">
                <a16:creationId xmlns:a16="http://schemas.microsoft.com/office/drawing/2014/main" id="{DDE7296E-BFB7-4D48-8C88-CA9ABE6E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470"/>
                </a:solidFill>
                <a:latin typeface="PingFang SC"/>
                <a:ea typeface="PingFang SC"/>
                <a:cs typeface="PingFang SC"/>
              </a:rPr>
              <a:t>来源：Loop 6 / Attempt 26 的 5000 test balanced_evaluation_report.json。少/多记录按业务 Key 多重集计算。</a:t>
            </a:r>
          </a:p>
        </p:txBody>
      </p:sp>
    </p:spTree>
    <p:extLst>
      <p:ext uri="{BB962C8B-B14F-4D97-AF65-F5344CB8AC3E}">
        <p14:creationId xmlns:p14="http://schemas.microsoft.com/office/powerpoint/2010/main" val="17444393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2026-07-13T05:16:44.8030000Z</dcterms:created>
  <dcterms:modified xsi:type="dcterms:W3CDTF">2026-07-13T05:16:44.8030000Z</dcterms:modified>
</coreProperties>
</file>