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MIMIC ICU mortality reference-guided run</a:t>
            </a:r>
            <a:endParaRPr sz="120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11111"/>
                </a:solidFill>
              </a:defRPr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ICU </a:t>
            </a:r>
            <a:r>
              <a:rPr lang="zh-CN" altLang="en-US">
                <a:sym typeface="+mn-ea"/>
              </a:rPr>
              <a:t>死亡预测/死亡标签相关</a:t>
            </a:r>
            <a:r>
              <a:rPr lang="en-US" altLang="zh-CN">
                <a:sym typeface="+mn-ea"/>
              </a:rPr>
              <a:t>；</a:t>
            </a:r>
            <a:r>
              <a:rPr sz="2925" b="1">
                <a:solidFill>
                  <a:srgbClr val="111111"/>
                </a:solidFill>
              </a:rPr>
              <a:t>输出包规模与结构</a:t>
            </a:r>
            <a:endParaRPr sz="2925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809750"/>
            <a:ext cx="400050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885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文件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686300" y="1809750"/>
            <a:ext cx="152400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781550" y="18859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行数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10300" y="1809750"/>
            <a:ext cx="114300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305550" y="188595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列数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353300" y="1809750"/>
            <a:ext cx="285750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18859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主键覆盖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2228850"/>
            <a:ext cx="4000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23050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cohort_icu_mortality_0__.csv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86300" y="2228850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81550" y="23050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100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10300" y="2228850"/>
            <a:ext cx="1143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05550" y="230505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11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353300" y="2228850"/>
            <a:ext cx="2857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48550" y="23050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100 unique stay_id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2647950"/>
            <a:ext cx="40005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81050" y="27241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preproc_chart_icu.csv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86300" y="2647950"/>
            <a:ext cx="15240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781550" y="27241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100,371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10300" y="2647950"/>
            <a:ext cx="11430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305550" y="272415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353300" y="2647950"/>
            <a:ext cx="28575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48550" y="27241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100 stay_id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85800" y="3067050"/>
            <a:ext cx="4000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1050" y="3143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preproc_diag_icu.csv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686300" y="3067050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781550" y="31432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1,821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210300" y="3067050"/>
            <a:ext cx="1143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305550" y="314325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353300" y="3067050"/>
            <a:ext cx="2857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448550" y="31432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100 stay_id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85800" y="3486150"/>
            <a:ext cx="40005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1050" y="35623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preproc_med_icu.csv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686300" y="3486150"/>
            <a:ext cx="15240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781550" y="35623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6,295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210300" y="3486150"/>
            <a:ext cx="11430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305550" y="356235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11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353300" y="3486150"/>
            <a:ext cx="28575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448550" y="35623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86 stay_id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85800" y="3905250"/>
            <a:ext cx="4000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81050" y="39814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preproc_out_icu.csv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686300" y="3905250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781550" y="39814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6,409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210300" y="3905250"/>
            <a:ext cx="1143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305550" y="398145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7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353300" y="3905250"/>
            <a:ext cx="2857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448550" y="39814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99 stay_id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85800" y="4324350"/>
            <a:ext cx="40005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81050" y="44005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preproc_proc_icu.csv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686300" y="4324350"/>
            <a:ext cx="15240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4781550" y="44005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813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210300" y="4324350"/>
            <a:ext cx="11430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6305550" y="440055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7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353300" y="4324350"/>
            <a:ext cx="28575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448550" y="44005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88 stay_id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85800" y="581025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解释：部分 feature 表不是每个 stay 都有事件，因此 key 覆盖低于 100 不一定是错误。</a:t>
            </a:r>
            <a:endParaRPr sz="150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MIMIC ICU mortality reference-guided run</a:t>
            </a:r>
            <a:endParaRPr sz="120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逐文件匹配率</a:t>
            </a:r>
            <a:endParaRPr sz="2925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828800"/>
            <a:ext cx="20002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cohort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686050" y="1866900"/>
            <a:ext cx="6934200" cy="355600"/>
          </a:xfrm>
          <a:prstGeom prst="rect">
            <a:avLst/>
          </a:prstGeom>
          <a:solidFill>
            <a:srgbClr val="E5E5E5"/>
          </a:solidFill>
          <a:ln w="0">
            <a:solidFill>
              <a:srgbClr val="E5E5E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686050" y="1866900"/>
            <a:ext cx="4229862" cy="355600"/>
          </a:xfrm>
          <a:prstGeom prst="rect">
            <a:avLst/>
          </a:prstGeom>
          <a:solidFill>
            <a:srgbClr val="B42318"/>
          </a:solidFill>
          <a:ln w="0">
            <a:solidFill>
              <a:srgbClr val="B4231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791700" y="1828800"/>
            <a:ext cx="10477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61.0%</a:t>
            </a:r>
            <a:endParaRPr sz="1350" b="1">
              <a:solidFill>
                <a:srgbClr val="B4231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470150"/>
            <a:ext cx="20002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chart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86050" y="2508250"/>
            <a:ext cx="6934200" cy="355600"/>
          </a:xfrm>
          <a:prstGeom prst="rect">
            <a:avLst/>
          </a:prstGeom>
          <a:solidFill>
            <a:srgbClr val="E5E5E5"/>
          </a:solidFill>
          <a:ln w="0">
            <a:solidFill>
              <a:srgbClr val="E5E5E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686050" y="2508250"/>
            <a:ext cx="6745597" cy="355600"/>
          </a:xfrm>
          <a:prstGeom prst="rect">
            <a:avLst/>
          </a:prstGeom>
          <a:solidFill>
            <a:srgbClr val="1B7F4A"/>
          </a:solidFill>
          <a:ln w="0">
            <a:solidFill>
              <a:srgbClr val="1B7F4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91700" y="2470150"/>
            <a:ext cx="10477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1B7F4A"/>
                </a:solidFill>
              </a:defRPr>
            </a:pPr>
            <a:r>
              <a:rPr sz="1350" b="1">
                <a:solidFill>
                  <a:srgbClr val="1B7F4A"/>
                </a:solidFill>
              </a:rPr>
              <a:t>97.3%</a:t>
            </a:r>
            <a:endParaRPr sz="1350" b="1">
              <a:solidFill>
                <a:srgbClr val="1B7F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3111500"/>
            <a:ext cx="20002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diagnosis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686050" y="3149600"/>
            <a:ext cx="6934200" cy="355600"/>
          </a:xfrm>
          <a:prstGeom prst="rect">
            <a:avLst/>
          </a:prstGeom>
          <a:solidFill>
            <a:srgbClr val="E5E5E5"/>
          </a:solidFill>
          <a:ln w="0">
            <a:solidFill>
              <a:srgbClr val="E5E5E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686050" y="3149600"/>
            <a:ext cx="4321976" cy="355600"/>
          </a:xfrm>
          <a:prstGeom prst="rect">
            <a:avLst/>
          </a:prstGeom>
          <a:solidFill>
            <a:srgbClr val="B42318"/>
          </a:solidFill>
          <a:ln w="0">
            <a:solidFill>
              <a:srgbClr val="B4231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791700" y="3111500"/>
            <a:ext cx="10477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62.3%</a:t>
            </a:r>
            <a:endParaRPr sz="1350" b="1">
              <a:solidFill>
                <a:srgbClr val="B4231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752850"/>
            <a:ext cx="20002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medication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86050" y="3790950"/>
            <a:ext cx="6934200" cy="355600"/>
          </a:xfrm>
          <a:prstGeom prst="rect">
            <a:avLst/>
          </a:prstGeom>
          <a:solidFill>
            <a:srgbClr val="E5E5E5"/>
          </a:solidFill>
          <a:ln w="0">
            <a:solidFill>
              <a:srgbClr val="E5E5E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686050" y="3790950"/>
            <a:ext cx="6934200" cy="355600"/>
          </a:xfrm>
          <a:prstGeom prst="rect">
            <a:avLst/>
          </a:prstGeom>
          <a:solidFill>
            <a:srgbClr val="1B7F4A"/>
          </a:solidFill>
          <a:ln w="0">
            <a:solidFill>
              <a:srgbClr val="1B7F4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791700" y="3752850"/>
            <a:ext cx="10477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1B7F4A"/>
                </a:solidFill>
              </a:defRPr>
            </a:pPr>
            <a:r>
              <a:rPr sz="1350" b="1">
                <a:solidFill>
                  <a:srgbClr val="1B7F4A"/>
                </a:solidFill>
              </a:rPr>
              <a:t>100%</a:t>
            </a:r>
            <a:endParaRPr sz="1350" b="1">
              <a:solidFill>
                <a:srgbClr val="1B7F4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394200"/>
            <a:ext cx="20002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output events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686050" y="4432300"/>
            <a:ext cx="6934200" cy="355600"/>
          </a:xfrm>
          <a:prstGeom prst="rect">
            <a:avLst/>
          </a:prstGeom>
          <a:solidFill>
            <a:srgbClr val="E5E5E5"/>
          </a:solidFill>
          <a:ln w="0">
            <a:solidFill>
              <a:srgbClr val="E5E5E5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686050" y="4432300"/>
            <a:ext cx="6934200" cy="355600"/>
          </a:xfrm>
          <a:prstGeom prst="rect">
            <a:avLst/>
          </a:prstGeom>
          <a:solidFill>
            <a:srgbClr val="1B7F4A"/>
          </a:solidFill>
          <a:ln w="0">
            <a:solidFill>
              <a:srgbClr val="1B7F4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91700" y="4394200"/>
            <a:ext cx="10477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1B7F4A"/>
                </a:solidFill>
              </a:defRPr>
            </a:pPr>
            <a:r>
              <a:rPr sz="1350" b="1">
                <a:solidFill>
                  <a:srgbClr val="1B7F4A"/>
                </a:solidFill>
              </a:rPr>
              <a:t>100%</a:t>
            </a:r>
            <a:endParaRPr sz="1350" b="1">
              <a:solidFill>
                <a:srgbClr val="1B7F4A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5035550"/>
            <a:ext cx="20002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procedures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686050" y="5073650"/>
            <a:ext cx="6934200" cy="355600"/>
          </a:xfrm>
          <a:prstGeom prst="rect">
            <a:avLst/>
          </a:prstGeom>
          <a:solidFill>
            <a:srgbClr val="E5E5E5"/>
          </a:solidFill>
          <a:ln w="0">
            <a:solidFill>
              <a:srgbClr val="E5E5E5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686050" y="5073650"/>
            <a:ext cx="6934200" cy="355600"/>
          </a:xfrm>
          <a:prstGeom prst="rect">
            <a:avLst/>
          </a:prstGeom>
          <a:solidFill>
            <a:srgbClr val="1B7F4A"/>
          </a:solidFill>
          <a:ln w="0">
            <a:solidFill>
              <a:srgbClr val="1B7F4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791700" y="5035550"/>
            <a:ext cx="104775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1B7F4A"/>
                </a:solidFill>
              </a:defRPr>
            </a:pPr>
            <a:r>
              <a:rPr sz="1350" b="1">
                <a:solidFill>
                  <a:srgbClr val="1B7F4A"/>
                </a:solidFill>
              </a:rPr>
              <a:t>100% l</a:t>
            </a:r>
            <a:endParaRPr sz="1350" b="1">
              <a:solidFill>
                <a:srgbClr val="1B7F4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MIMIC ICU mortality reference-guided run</a:t>
            </a:r>
            <a:endParaRPr sz="120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3740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结构通过</a:t>
            </a:r>
            <a:endParaRPr sz="2925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990725"/>
            <a:ext cx="2000250" cy="4619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结构校验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857500" y="2028825"/>
            <a:ext cx="6743700" cy="309563"/>
          </a:xfrm>
          <a:prstGeom prst="rect">
            <a:avLst/>
          </a:prstGeom>
          <a:solidFill>
            <a:srgbClr val="E5E5E5"/>
          </a:solidFill>
          <a:ln w="0">
            <a:solidFill>
              <a:srgbClr val="E5E5E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857500" y="2028825"/>
            <a:ext cx="6743700" cy="309563"/>
          </a:xfrm>
          <a:prstGeom prst="rect">
            <a:avLst/>
          </a:prstGeom>
          <a:solidFill>
            <a:srgbClr val="1B7F4A"/>
          </a:solidFill>
          <a:ln w="0">
            <a:solidFill>
              <a:srgbClr val="1B7F4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772650" y="1990725"/>
            <a:ext cx="857250" cy="4619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1B7F4A"/>
                </a:solidFill>
              </a:defRPr>
            </a:pPr>
            <a:r>
              <a:rPr sz="1350" b="1">
                <a:solidFill>
                  <a:srgbClr val="1B7F4A"/>
                </a:solidFill>
              </a:rPr>
              <a:t>PASS</a:t>
            </a:r>
            <a:endParaRPr sz="1350" b="1">
              <a:solidFill>
                <a:srgbClr val="1B7F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662238"/>
            <a:ext cx="2000250" cy="4619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行加权匹配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857500" y="2700338"/>
            <a:ext cx="6743700" cy="309563"/>
          </a:xfrm>
          <a:prstGeom prst="rect">
            <a:avLst/>
          </a:prstGeom>
          <a:solidFill>
            <a:srgbClr val="E5E5E5"/>
          </a:solidFill>
          <a:ln w="0">
            <a:solidFill>
              <a:srgbClr val="E5E5E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857500" y="2700338"/>
            <a:ext cx="6542893" cy="309563"/>
          </a:xfrm>
          <a:prstGeom prst="rect">
            <a:avLst/>
          </a:prstGeom>
          <a:solidFill>
            <a:srgbClr val="1B7F4A"/>
          </a:solidFill>
          <a:ln w="0">
            <a:solidFill>
              <a:srgbClr val="1B7F4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772650" y="2662238"/>
            <a:ext cx="857250" cy="4619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1B7F4A"/>
                </a:solidFill>
              </a:defRPr>
            </a:pPr>
            <a:r>
              <a:rPr sz="1350" b="1">
                <a:solidFill>
                  <a:srgbClr val="1B7F4A"/>
                </a:solidFill>
              </a:rPr>
              <a:t>97.0%</a:t>
            </a:r>
            <a:endParaRPr sz="1350" b="1">
              <a:solidFill>
                <a:srgbClr val="1B7F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3333750"/>
            <a:ext cx="2000250" cy="4619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严格宏平均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857500" y="3371850"/>
            <a:ext cx="6743700" cy="309563"/>
          </a:xfrm>
          <a:prstGeom prst="rect">
            <a:avLst/>
          </a:prstGeom>
          <a:solidFill>
            <a:srgbClr val="E5E5E5"/>
          </a:solidFill>
          <a:ln w="0">
            <a:solidFill>
              <a:srgbClr val="E5E5E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857500" y="3371850"/>
            <a:ext cx="5851380" cy="309563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772650" y="3333750"/>
            <a:ext cx="857250" cy="4619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86.8%</a:t>
            </a:r>
            <a:endParaRPr sz="1350" b="1">
              <a:solidFill>
                <a:srgbClr val="FF6B3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MIMIC ICU mortality reference-guided run</a:t>
            </a:r>
            <a:endParaRPr sz="1200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主要误差来源</a:t>
            </a:r>
            <a:endParaRPr sz="2925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809750"/>
            <a:ext cx="1428750" cy="5905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1885950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模块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924050" y="1809750"/>
            <a:ext cx="2476500" cy="5905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019300" y="18859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观察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00550" y="1809750"/>
            <a:ext cx="3333750" cy="5905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95800" y="188595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原因判断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734300" y="1809750"/>
            <a:ext cx="3429000" cy="5905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29550" y="188595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修复方向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95300" y="24003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90550" y="2476500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cohort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924050" y="2400300"/>
            <a:ext cx="2476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019300" y="247650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严格行匹配 61/100；字段级多数为 100/100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00550" y="2400300"/>
            <a:ext cx="3333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95800" y="24765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dod 日期格式和 6 个 label 不一致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34300" y="2400300"/>
            <a:ext cx="3429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29550" y="24765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统一 dod 格式；复现 reference 的 mortality label 口径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95300" y="2990850"/>
            <a:ext cx="1428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3067050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diagnosis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924050" y="2990850"/>
            <a:ext cx="247650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019300" y="30670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icd_code 全对；整行 1135/1821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2990850"/>
            <a:ext cx="3333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95800" y="306705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ICD9 -&gt; ICD10/root 映射未复现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734300" y="2990850"/>
            <a:ext cx="342900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829550" y="306705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加入 ICD 映射表或 pipeline 转换逻辑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95300" y="35814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90550" y="3657600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chart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924050" y="3581400"/>
            <a:ext cx="2476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019300" y="365760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100325/103130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00550" y="3581400"/>
            <a:ext cx="3333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495800" y="36576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itemid whitelist 或过滤边界略有差异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734300" y="3581400"/>
            <a:ext cx="3429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829550" y="36576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从 train/reference 学 filter，再用 d_items 校验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95300" y="4171950"/>
            <a:ext cx="1428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90550" y="4248150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procedure</a:t>
            </a:r>
            <a:endParaRPr sz="1125" b="1">
              <a:solidFill>
                <a:srgbClr val="111111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924050" y="4171950"/>
            <a:ext cx="247650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019300" y="42481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792/792 recall；多 21 行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400550" y="4171950"/>
            <a:ext cx="3333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495800" y="424815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事件过滤条件偏宽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734300" y="4171950"/>
            <a:ext cx="342900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829550" y="424815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补齐 pipeline 对 procedureevents 的过滤规则</a:t>
            </a:r>
            <a:endParaRPr sz="112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WPS 文字</Application>
  <PresentationFormat>Converted Presentation</PresentationFormat>
  <Paragraphs>150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赵英晨</cp:lastModifiedBy>
  <cp:revision>2</cp:revision>
  <dcterms:created xsi:type="dcterms:W3CDTF">2026-06-30T07:17:00Z</dcterms:created>
  <dcterms:modified xsi:type="dcterms:W3CDTF">2026-06-30T07:17:00Z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30E4B500019FE2BA075C426A7F1DD54F_42</vt:lpwstr>
  </property>
</Properties>
</file>